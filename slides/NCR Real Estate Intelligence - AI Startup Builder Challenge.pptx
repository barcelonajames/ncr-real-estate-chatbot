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ulQAHv9nIpQHtzgKtvhEmNWu9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4a7b25f6c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" name="Google Shape;13;g3e4a7b25f6c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e4a7b25f6c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3" name="Google Shape;5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0" name="Google Shape;57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g3e4a7b25f6c_2_0" title="pexels-patrick-vogt-103842146-12166217.jpg"/>
          <p:cNvPicPr preferRelativeResize="0"/>
          <p:nvPr/>
        </p:nvPicPr>
        <p:blipFill rotWithShape="1">
          <a:blip r:embed="rId3">
            <a:alphaModFix/>
          </a:blip>
          <a:srcRect b="15605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1" title="pexels-patrick-vogt-103842146-12166217.jpg"/>
          <p:cNvPicPr preferRelativeResize="0"/>
          <p:nvPr/>
        </p:nvPicPr>
        <p:blipFill rotWithShape="1">
          <a:blip r:embed="rId3">
            <a:alphaModFix amt="25000"/>
          </a:blip>
          <a:srcRect b="15605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"/>
          <p:cNvSpPr/>
          <p:nvPr/>
        </p:nvSpPr>
        <p:spPr>
          <a:xfrm>
            <a:off x="457200" y="438912"/>
            <a:ext cx="2578608" cy="274320"/>
          </a:xfrm>
          <a:prstGeom prst="rect">
            <a:avLst/>
          </a:prstGeom>
          <a:solidFill>
            <a:srgbClr val="1A0808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438912"/>
            <a:ext cx="25786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AI Startup Builder Challenge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182112" y="438912"/>
            <a:ext cx="1901952" cy="274320"/>
          </a:xfrm>
          <a:prstGeom prst="rect">
            <a:avLst/>
          </a:prstGeom>
          <a:solidFill>
            <a:srgbClr val="1A0808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182112" y="438912"/>
            <a:ext cx="19019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Uplift Code Camp ·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457200" y="713215"/>
            <a:ext cx="77724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NCR Real Estate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7200" y="2183100"/>
            <a:ext cx="8229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 AI chatbot that helps Metro Manila residents find the right home — and understand what it will actually cost to live there.</a:t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3657600"/>
            <a:ext cx="8229600" cy="1371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57200" y="3840480"/>
            <a:ext cx="1481328" cy="292608"/>
          </a:xfrm>
          <a:prstGeom prst="rect">
            <a:avLst/>
          </a:prstGeom>
          <a:solidFill>
            <a:srgbClr val="1A0808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57200" y="3840480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2084832" y="3840480"/>
            <a:ext cx="1837944" cy="292608"/>
          </a:xfrm>
          <a:prstGeom prst="rect">
            <a:avLst/>
          </a:prstGeom>
          <a:solidFill>
            <a:srgbClr val="1A0808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2084832" y="3840480"/>
            <a:ext cx="1837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Claude Haiku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069080" y="3840480"/>
            <a:ext cx="1481328" cy="292608"/>
          </a:xfrm>
          <a:prstGeom prst="rect">
            <a:avLst/>
          </a:prstGeom>
          <a:solidFill>
            <a:srgbClr val="1A0808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069080" y="3840480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SearchAPI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696712" y="3840480"/>
            <a:ext cx="1124712" cy="292608"/>
          </a:xfrm>
          <a:prstGeom prst="rect">
            <a:avLst/>
          </a:prstGeom>
          <a:solidFill>
            <a:srgbClr val="1A0808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696712" y="3840480"/>
            <a:ext cx="1124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57200" y="470916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Richard Majarucon • Robin Hombrebueno • Jordaens Esteban •  James Barcelona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01  —  THE PROBLEM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57200" y="52121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Finding a home in NCR is harder than it should be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1216154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Thousands of listings. But they only show the rent. Transport, electricity, commute time, flood risk, school access — you figure those out after you've already moved 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457200" y="1783082"/>
            <a:ext cx="2560200" cy="15087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1783070"/>
            <a:ext cx="59400" cy="1508700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03504" y="1874522"/>
            <a:ext cx="232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Hidden costs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03504" y="2112266"/>
            <a:ext cx="2322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Transport, utilities, and maintenance never appear in the listing price.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291840" y="1783082"/>
            <a:ext cx="2560200" cy="15087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3291840" y="1783082"/>
            <a:ext cx="59400" cy="1508700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438144" y="1874522"/>
            <a:ext cx="232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Wasted time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438144" y="2112266"/>
            <a:ext cx="2322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Browsing listings only to discover the 'affordable' one is 2 hours from work.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6126480" y="1783082"/>
            <a:ext cx="2560200" cy="15087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6126480" y="1783082"/>
            <a:ext cx="59400" cy="1508700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72784" y="1874522"/>
            <a:ext cx="2322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No comparison tool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272784" y="2112266"/>
            <a:ext cx="23226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No easy way to compare properties across location, lifestyle, and real cost at once.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02  —  THE WIDER PICTURE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150" y="52121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Salary-to-rent gap in the Philippines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57200" y="1248577"/>
            <a:ext cx="8229600" cy="658500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585216" y="1321729"/>
            <a:ext cx="79737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Reports consistently rank the Philippines among the highest rent-to-income ratios in Southeast Asia. Philippine electricity rates are among the highest in the region — averaging ₱11.94 per kWh as of 2024.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57200" y="2104087"/>
            <a:ext cx="2560200" cy="10059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85216" y="2186383"/>
            <a:ext cx="2304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NCR daily minimum wage (2024–2025)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85216" y="2378407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₱</a:t>
            </a:r>
            <a:r>
              <a:rPr b="1" lang="en-US" sz="2200">
                <a:solidFill>
                  <a:srgbClr val="FF4B4B"/>
                </a:solidFill>
              </a:rPr>
              <a:t>14k</a:t>
            </a:r>
            <a:r>
              <a:rPr b="1" i="0" lang="en-US" sz="22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b="1" lang="en-US" sz="2200">
                <a:solidFill>
                  <a:srgbClr val="FF4B4B"/>
                </a:solidFill>
              </a:rPr>
              <a:t>15k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85216" y="2817319"/>
            <a:ext cx="230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per day · approx. ₱</a:t>
            </a:r>
            <a:r>
              <a:rPr lang="en-US" sz="950">
                <a:solidFill>
                  <a:srgbClr val="A3A8B4"/>
                </a:solidFill>
              </a:rPr>
              <a:t>608-645</a:t>
            </a: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950">
                <a:solidFill>
                  <a:srgbClr val="A3A8B4"/>
                </a:solidFill>
              </a:rPr>
              <a:t>day</a:t>
            </a:r>
            <a:endParaRPr sz="950">
              <a:solidFill>
                <a:srgbClr val="A3A8B4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take-home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91840" y="2104087"/>
            <a:ext cx="2560200" cy="10059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419856" y="2186383"/>
            <a:ext cx="2304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Typical 1BR rent in accessible NCR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419856" y="2378407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₱12k–₱25k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419856" y="2817319"/>
            <a:ext cx="230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per month · before utilities, transport, or dues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126480" y="2104087"/>
            <a:ext cx="2560200" cy="10059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254496" y="2186383"/>
            <a:ext cx="2304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What that means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254496" y="2378407"/>
            <a:ext cx="2304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60–100%+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6254496" y="2817319"/>
            <a:ext cx="2304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of take-home pay consumed by rent alone for many NCR workers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Source: Oyster HR (Philippine wage data 2024–2025), Pacific Prime (electricity rates, March 2024).</a:t>
            </a:r>
            <a:endParaRPr b="0" i="0" sz="8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03  —  THE REAL COST GAP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57200" y="52121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The cheapest rent is rarely the cheapest life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1234477"/>
            <a:ext cx="8229600" cy="512100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85216" y="1307629"/>
            <a:ext cx="7973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Same person, same job in BGC: A ₱15,000 apartment in Antipolo ends up costing MORE per month than a ₱28,000 condo near BGC — once you count what listings don't show.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181965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Option A  —  Antipolo unit (₱15,000 rent)</a:t>
            </a:r>
            <a:endParaRPr b="0" i="0" sz="9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754880" y="1819658"/>
            <a:ext cx="39318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Option B  —  Near BGC unit (₱28,000 rent)</a:t>
            </a:r>
            <a:endParaRPr b="0" i="0" sz="9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2075690"/>
            <a:ext cx="3931800" cy="3108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66928" y="2157986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Rent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429000" y="2157986"/>
            <a:ext cx="86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₱15,000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57200" y="2423162"/>
            <a:ext cx="3931800" cy="310800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66928" y="2505458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Utilities (elec + water + internet)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429000" y="2505458"/>
            <a:ext cx="86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₱4,200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57200" y="2770634"/>
            <a:ext cx="3931800" cy="3108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66928" y="2852930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Transport to BGC (fuel + toll + parking)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3429000" y="2852930"/>
            <a:ext cx="86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₱12,500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57200" y="3118106"/>
            <a:ext cx="3931800" cy="310800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66928" y="3200402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Time cost (3 hrs/day commute)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429000" y="3200402"/>
            <a:ext cx="86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₱5,300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754880" y="2075690"/>
            <a:ext cx="3931800" cy="3108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864608" y="2157986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Rent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726680" y="2157986"/>
            <a:ext cx="86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₱28,000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754880" y="2423162"/>
            <a:ext cx="3931800" cy="310800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864608" y="2505458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Utilities (elec + water + internet)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7726680" y="2505458"/>
            <a:ext cx="86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₱5,500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754880" y="2770634"/>
            <a:ext cx="3931800" cy="3108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864608" y="2852930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Transport (walk / short ride to office)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7726680" y="2852930"/>
            <a:ext cx="86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₱1,500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754880" y="3118106"/>
            <a:ext cx="3931800" cy="310800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864608" y="3200402"/>
            <a:ext cx="29262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Time cost (30 min commute)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726680" y="3200402"/>
            <a:ext cx="8688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₱800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57200" y="3493010"/>
            <a:ext cx="3931800" cy="384000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66928" y="355701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True Monthly Cost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337560" y="3538730"/>
            <a:ext cx="1005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₱37,000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754880" y="3493010"/>
            <a:ext cx="3931800" cy="384000"/>
          </a:xfrm>
          <a:prstGeom prst="rect">
            <a:avLst/>
          </a:prstGeom>
          <a:solidFill>
            <a:srgbClr val="064030"/>
          </a:solidFill>
          <a:ln cap="flat" cmpd="sng" w="9525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864608" y="3557018"/>
            <a:ext cx="2560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True Monthly Cost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7635240" y="3538730"/>
            <a:ext cx="10059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E7B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EE7B7"/>
                </a:solidFill>
                <a:latin typeface="Arial"/>
                <a:ea typeface="Arial"/>
                <a:cs typeface="Arial"/>
                <a:sym typeface="Arial"/>
              </a:rPr>
              <a:t>₱35,800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* Time cost = commute hours per month × estimated hourly income equivalent. Your time has a monetary value.</a:t>
            </a:r>
            <a:endParaRPr b="0" i="0" sz="8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593825" y="2825375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593825" y="3186563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7916425" y="2121400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7916425" y="2477913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 rot="10800000">
            <a:off x="7916413" y="3186550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 rot="10800000">
            <a:off x="7916413" y="2825375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 rot="10800000">
            <a:off x="3593813" y="2121400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 rot="10800000">
            <a:off x="3593813" y="2477913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 rot="10800000">
            <a:off x="7726663" y="3593475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38761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3429000" y="3584325"/>
            <a:ext cx="100800" cy="2013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04  —  OUR SOLUTION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57200" y="511298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AI assistant that answers the questions listings don't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57200" y="1067454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Type a question in plain language — or set your preferences with the filters. The chatbot searches live property websites and gives you a clear, structured answer.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57263" y="1597891"/>
            <a:ext cx="3931800" cy="11703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57263" y="1597891"/>
            <a:ext cx="59400" cy="1170300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603567" y="1689331"/>
            <a:ext cx="369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Understands plain language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603567" y="1927075"/>
            <a:ext cx="3694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Ask it like you'd ask a friend. "What's a good area for a family of 4 near QC, under ₱40k?" — it gets 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754943" y="1597891"/>
            <a:ext cx="3931800" cy="11703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754943" y="1597891"/>
            <a:ext cx="59400" cy="1170300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901247" y="1689331"/>
            <a:ext cx="369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Searches real, live listings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901247" y="1927075"/>
            <a:ext cx="3694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Pulls current data from Lamudi, Dot Property, and other Philippine property sites every time you ask.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7263" y="2896339"/>
            <a:ext cx="3931800" cy="11703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63" y="2896339"/>
            <a:ext cx="59400" cy="1170300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603567" y="2987779"/>
            <a:ext cx="369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Calculates your True Monthly Cost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03567" y="3225523"/>
            <a:ext cx="3694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Adds up rent, utilities, transport, and commute time so you see the full picture, not just the listed price.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754943" y="2896339"/>
            <a:ext cx="3931800" cy="11703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754943" y="2896339"/>
            <a:ext cx="59400" cy="1170300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901247" y="2987779"/>
            <a:ext cx="369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Shows results on a map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901247" y="3225523"/>
            <a:ext cx="36942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Properties appear as interactive pins on a Metro Manila map so you see exactly where things 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05  —  INSIDE THE CHATBOT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57200" y="52125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Streamlit interface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57200" y="1015013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Sidebar filters on the left, chat window on the right — the same Streamlit design language used throughout this deck.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365760" y="1417320"/>
            <a:ext cx="1417320" cy="3200400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783080" y="1417320"/>
            <a:ext cx="3703320" cy="3200400"/>
          </a:xfrm>
          <a:prstGeom prst="rect">
            <a:avLst/>
          </a:prstGeom>
          <a:solidFill>
            <a:srgbClr val="0E1117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" y="1508760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Search Filters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457200" y="1746504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Set your preferences or just type in the chat.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57200" y="2093976"/>
            <a:ext cx="1234440" cy="9144"/>
          </a:xfrm>
          <a:prstGeom prst="rect">
            <a:avLst/>
          </a:prstGeom>
          <a:solidFill>
            <a:srgbClr val="2E2F3E"/>
          </a:solidFill>
          <a:ln cap="flat" cmpd="sng" w="12700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57200" y="2194560"/>
            <a:ext cx="1234440" cy="2011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66928" y="2194560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Where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1527048" y="219456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57200" y="2450592"/>
            <a:ext cx="1234440" cy="2011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66928" y="2450592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527048" y="2450592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7200" y="2706624"/>
            <a:ext cx="1234440" cy="2011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566928" y="2706624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Budget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1527048" y="2706624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57200" y="2962656"/>
            <a:ext cx="1234440" cy="2011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66928" y="2962656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Commute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527048" y="2962656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57200" y="3218688"/>
            <a:ext cx="1234440" cy="2011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566928" y="3218688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Lifestyle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1527048" y="3218688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3474720"/>
            <a:ext cx="1234440" cy="2011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566928" y="3474720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Utilities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527048" y="347472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457200" y="3730752"/>
            <a:ext cx="1234440" cy="2011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66928" y="3730752"/>
            <a:ext cx="960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Market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1527048" y="3730752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57200" y="4233672"/>
            <a:ext cx="1234440" cy="274320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457200" y="4233672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Generate from filters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1920240" y="1508760"/>
            <a:ext cx="3429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NCR Real Estate Assistant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1920240" y="1746504"/>
            <a:ext cx="3429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Ask about properties, rental prices, commute costs, utilities...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1920240" y="1984248"/>
            <a:ext cx="3429000" cy="9144"/>
          </a:xfrm>
          <a:prstGeom prst="rect">
            <a:avLst/>
          </a:prstGeom>
          <a:solidFill>
            <a:srgbClr val="2E2F3E"/>
          </a:solidFill>
          <a:ln cap="flat" cmpd="sng" w="12700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1920240" y="2093976"/>
            <a:ext cx="3429000" cy="56692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993392" y="2167128"/>
            <a:ext cx="201168" cy="201168"/>
          </a:xfrm>
          <a:prstGeom prst="ellipse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258568" y="2148840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Hello! Ask me about NCR real estate — listings, prices, commute times, or use the filters.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1920240" y="2734056"/>
            <a:ext cx="3429000" cy="36576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1993392" y="2807208"/>
            <a:ext cx="201168" cy="201168"/>
          </a:xfrm>
          <a:prstGeom prst="ellipse">
            <a:avLst/>
          </a:prstGeom>
          <a:solidFill>
            <a:srgbClr val="4A4B5E"/>
          </a:solidFill>
          <a:ln cap="flat" cmpd="sng" w="12700">
            <a:solidFill>
              <a:srgbClr val="4A4B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2258568" y="2788920"/>
            <a:ext cx="3063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What's the average rent for a 2BR condo in BGC?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1920240" y="3172968"/>
            <a:ext cx="3429000" cy="56692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1993392" y="3246120"/>
            <a:ext cx="201168" cy="201168"/>
          </a:xfrm>
          <a:prstGeom prst="ellipse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2258568" y="3227832"/>
            <a:ext cx="3063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BGC 2BR condos currently rent for around ₱35,000–₱65,000/month. Want me to calculate the True Monthly Cost including commute and utilities?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1920240" y="4233672"/>
            <a:ext cx="3200400" cy="27432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3A3B4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2039112" y="423367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Ask me about NCR real estate...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120640" y="4233672"/>
            <a:ext cx="274320" cy="274320"/>
          </a:xfrm>
          <a:prstGeom prst="ellipse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120640" y="423367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1490472" y="1490472"/>
            <a:ext cx="237744" cy="237744"/>
          </a:xfrm>
          <a:prstGeom prst="ellipse">
            <a:avLst/>
          </a:prstGeom>
          <a:solidFill>
            <a:srgbClr val="FF4B4B"/>
          </a:solidFill>
          <a:ln cap="flat" cmpd="sng" w="1905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1490472" y="1490472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1490472" y="2926080"/>
            <a:ext cx="237744" cy="237744"/>
          </a:xfrm>
          <a:prstGeom prst="ellipse">
            <a:avLst/>
          </a:prstGeom>
          <a:solidFill>
            <a:srgbClr val="FF4B4B"/>
          </a:solidFill>
          <a:ln cap="flat" cmpd="sng" w="1905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1490472" y="292608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175504" y="1490472"/>
            <a:ext cx="237600" cy="237600"/>
          </a:xfrm>
          <a:prstGeom prst="ellipse">
            <a:avLst/>
          </a:prstGeom>
          <a:solidFill>
            <a:srgbClr val="FF4B4B"/>
          </a:solidFill>
          <a:ln cap="flat" cmpd="sng" w="1905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175504" y="1490472"/>
            <a:ext cx="23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175504" y="4251960"/>
            <a:ext cx="237744" cy="237744"/>
          </a:xfrm>
          <a:prstGeom prst="ellipse">
            <a:avLst/>
          </a:prstGeom>
          <a:solidFill>
            <a:srgbClr val="FF4B4B"/>
          </a:solidFill>
          <a:ln cap="flat" cmpd="sng" w="19050">
            <a:solidFill>
              <a:srgbClr val="FAFA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5175504" y="4251960"/>
            <a:ext cx="2377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5623560" y="1417320"/>
            <a:ext cx="3291840" cy="71323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5733288" y="1508760"/>
            <a:ext cx="310896" cy="310896"/>
          </a:xfrm>
          <a:prstGeom prst="ellipse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733288" y="15087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153912" y="1490472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Sidebar Filters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6153912" y="1709928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All preferences live here. Slides out on demand to keep the chat area clean.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5623560" y="2221992"/>
            <a:ext cx="3291840" cy="71323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5733288" y="2313432"/>
            <a:ext cx="310896" cy="310896"/>
          </a:xfrm>
          <a:prstGeom prst="ellipse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5733288" y="2313432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153912" y="2295144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7 Filter Categories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153912" y="251460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Collapsible sections covering location, budget, commute, and 4 other dimensions.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5623560" y="3026664"/>
            <a:ext cx="3291840" cy="71323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5733288" y="3118104"/>
            <a:ext cx="310896" cy="310896"/>
          </a:xfrm>
          <a:prstGeom prst="ellipse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5733288" y="3118104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153912" y="3099816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Chat Conversation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6153912" y="3319272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Bot replies render as cards with maps, comparisons, or TMC breakdowns inline.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623560" y="3831336"/>
            <a:ext cx="3291840" cy="71323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5733288" y="3922776"/>
            <a:ext cx="310896" cy="310896"/>
          </a:xfrm>
          <a:prstGeom prst="ellipse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5733288" y="3922776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6153912" y="3904488"/>
            <a:ext cx="2651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Natural Input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6153912" y="4123944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Type freely, or hit Generate to send your filter selections as a question.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06  —  WHO IT'S FOR</a:t>
            </a:r>
            <a:endParaRPr/>
          </a:p>
        </p:txBody>
      </p:sp>
      <p:sp>
        <p:nvSpPr>
          <p:cNvPr id="250" name="Google Shape;250;p7"/>
          <p:cNvSpPr txBox="1"/>
          <p:nvPr/>
        </p:nvSpPr>
        <p:spPr>
          <a:xfrm>
            <a:off x="457200" y="1161452"/>
            <a:ext cx="8229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Different people, different needs — but the same need for clarity on what a home will actually cost.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457200" y="1463057"/>
            <a:ext cx="3931800" cy="15729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57200" y="1463057"/>
            <a:ext cx="59400" cy="15729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603504" y="1554497"/>
            <a:ext cx="369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First-time renter</a:t>
            </a:r>
            <a:endParaRPr/>
          </a:p>
        </p:txBody>
      </p:sp>
      <p:sp>
        <p:nvSpPr>
          <p:cNvPr id="254" name="Google Shape;254;p7"/>
          <p:cNvSpPr txBox="1"/>
          <p:nvPr/>
        </p:nvSpPr>
        <p:spPr>
          <a:xfrm>
            <a:off x="603504" y="1828817"/>
            <a:ext cx="36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Moving to NCR for work. Needs honest comparisons between areas on a tight budget.</a:t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603504" y="2304305"/>
            <a:ext cx="502800" cy="69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603504" y="2359169"/>
            <a:ext cx="369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WHAT THEY GAIN</a:t>
            </a:r>
            <a:endParaRPr/>
          </a:p>
        </p:txBody>
      </p:sp>
      <p:sp>
        <p:nvSpPr>
          <p:cNvPr id="257" name="Google Shape;257;p7"/>
          <p:cNvSpPr txBox="1"/>
          <p:nvPr/>
        </p:nvSpPr>
        <p:spPr>
          <a:xfrm>
            <a:off x="603504" y="2578625"/>
            <a:ext cx="36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Confidence in a first major housing decision — and protection from the cheap-rent-expensive-life trap.</a:t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4754880" y="1463057"/>
            <a:ext cx="3931800" cy="15729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754880" y="1463057"/>
            <a:ext cx="59400" cy="15729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4901184" y="1554497"/>
            <a:ext cx="369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WFH professional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4901184" y="1828817"/>
            <a:ext cx="36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Fully remote. Wants to optimize for quality of life — fast internet, quiet area, lower rent.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4901184" y="2304305"/>
            <a:ext cx="502800" cy="69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 txBox="1"/>
          <p:nvPr/>
        </p:nvSpPr>
        <p:spPr>
          <a:xfrm>
            <a:off x="4901184" y="2359169"/>
            <a:ext cx="369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WHAT THEY GAIN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4901184" y="2578625"/>
            <a:ext cx="36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The highest quality of life per peso — with infrastructure and lifestyle factored in, not just sqm.</a:t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57200" y="3127265"/>
            <a:ext cx="3931800" cy="15729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57200" y="3127265"/>
            <a:ext cx="59400" cy="15729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603504" y="3218705"/>
            <a:ext cx="369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Growing family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603504" y="3493025"/>
            <a:ext cx="36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Needs space, school access, safety, and affordability across multiple city options.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603504" y="3968513"/>
            <a:ext cx="502800" cy="69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603504" y="4023377"/>
            <a:ext cx="369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WHAT THEY GAIN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603504" y="4242833"/>
            <a:ext cx="36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One tool that weighs schools, safety, and budget at once — instead of 10+ open browser tabs.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4754880" y="3127265"/>
            <a:ext cx="3931800" cy="15729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754880" y="3127265"/>
            <a:ext cx="59400" cy="15729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4901184" y="3218705"/>
            <a:ext cx="3694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Property investor</a:t>
            </a:r>
            <a:endParaRPr/>
          </a:p>
        </p:txBody>
      </p:sp>
      <p:sp>
        <p:nvSpPr>
          <p:cNvPr id="275" name="Google Shape;275;p7"/>
          <p:cNvSpPr txBox="1"/>
          <p:nvPr/>
        </p:nvSpPr>
        <p:spPr>
          <a:xfrm>
            <a:off x="4901184" y="3493025"/>
            <a:ext cx="36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Wants rental yield, price appreciation trends, and undervalued NCR areas right now.</a:t>
            </a:r>
            <a:endParaRPr/>
          </a:p>
        </p:txBody>
      </p:sp>
      <p:sp>
        <p:nvSpPr>
          <p:cNvPr id="276" name="Google Shape;276;p7"/>
          <p:cNvSpPr/>
          <p:nvPr/>
        </p:nvSpPr>
        <p:spPr>
          <a:xfrm>
            <a:off x="4901184" y="3968513"/>
            <a:ext cx="502800" cy="69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4901184" y="4023377"/>
            <a:ext cx="36942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WHAT THEY GAIN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4901184" y="4242833"/>
            <a:ext cx="3694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Market context normally locked behind paid platforms — yields, trends, undervalued areas in plain language.</a:t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457200" y="52125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300">
                <a:solidFill>
                  <a:srgbClr val="FAFAFA"/>
                </a:solidFill>
              </a:rPr>
              <a:t>Anyone navigating Metro Manila's housing market</a:t>
            </a:r>
            <a:endParaRPr b="1" sz="2200">
              <a:solidFill>
                <a:srgbClr val="FAFAF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07  —  HOW IT WORKS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457200" y="518923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 5-step process — from your question to your answer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57200" y="1060704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This all happens automatically in a few seconds. You only see the question and the answer.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457200" y="1664208"/>
            <a:ext cx="292608" cy="292608"/>
          </a:xfrm>
          <a:prstGeom prst="ellipse">
            <a:avLst/>
          </a:prstGeom>
          <a:solidFill>
            <a:srgbClr val="1E1F26"/>
          </a:solidFill>
          <a:ln cap="flat" cmpd="sng" w="1905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457200" y="166420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859536" y="1627632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You type a question — or set your filters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59536" y="1865376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Type in plain language or use the sidebar: city, budget, property type, commute limit.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457200" y="2377440"/>
            <a:ext cx="292608" cy="292608"/>
          </a:xfrm>
          <a:prstGeom prst="ellipse">
            <a:avLst/>
          </a:prstGeom>
          <a:solidFill>
            <a:srgbClr val="1E1F26"/>
          </a:solidFill>
          <a:ln cap="flat" cmpd="sng" w="1905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457200" y="23774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859536" y="2340864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The AI understands what you're looking for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859536" y="2578608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Claude Haiku reads the question and decides exactly what to search for.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457200" y="3090672"/>
            <a:ext cx="292608" cy="292608"/>
          </a:xfrm>
          <a:prstGeom prst="ellipse">
            <a:avLst/>
          </a:prstGeom>
          <a:solidFill>
            <a:srgbClr val="1E1F26"/>
          </a:solidFill>
          <a:ln cap="flat" cmpd="sng" w="1905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457200" y="309067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859536" y="30540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We search real property websites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859536" y="3291840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Searches Google for live listings from Lamudi, Dot Property, and more. Real, current data.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4626850" y="1664208"/>
            <a:ext cx="292500" cy="292500"/>
          </a:xfrm>
          <a:prstGeom prst="ellipse">
            <a:avLst/>
          </a:prstGeom>
          <a:solidFill>
            <a:srgbClr val="1E1F26"/>
          </a:solidFill>
          <a:ln cap="flat" cmpd="sng" w="1905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4626850" y="1664208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029186" y="1627632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The AI reads and matches the results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029186" y="1865376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Haiku picks what fits your preferences and calculates your True Monthly Cost.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626850" y="2377440"/>
            <a:ext cx="292500" cy="292500"/>
          </a:xfrm>
          <a:prstGeom prst="ellipse">
            <a:avLst/>
          </a:prstGeom>
          <a:solidFill>
            <a:srgbClr val="1E1F26"/>
          </a:solidFill>
          <a:ln cap="flat" cmpd="sng" w="1905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4626850" y="2377440"/>
            <a:ext cx="292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5029186" y="2340864"/>
            <a:ext cx="3657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Your answer appears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029186" y="2578608"/>
            <a:ext cx="3657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Shows as a map, comparison table, listing cards, or cost breakdown — based on what you asked.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9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08  —  THE TECHNOLOGY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57200" y="5212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4 tools working together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457200" y="1060704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Each tool has one job. Together they handle everything from the interface to the live data behind each answer.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57200" y="1481328"/>
            <a:ext cx="3931920" cy="1316736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57200" y="1481328"/>
            <a:ext cx="59436" cy="1316736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603504" y="1572768"/>
            <a:ext cx="36941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603504" y="1810512"/>
            <a:ext cx="36941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The interface — everything the user sees and clicks. Sidebar filters, chat window, maps, and charts.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603504" y="2596896"/>
            <a:ext cx="36941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A4B5E"/>
                </a:solidFill>
                <a:latin typeface="Arial"/>
                <a:ea typeface="Arial"/>
                <a:cs typeface="Arial"/>
                <a:sym typeface="Arial"/>
              </a:rPr>
              <a:t>No AI here — just a well-designed, interactive web page.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754880" y="1481328"/>
            <a:ext cx="3931920" cy="1316736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754880" y="1481328"/>
            <a:ext cx="59436" cy="1316736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901184" y="1572768"/>
            <a:ext cx="36941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Claude Haiku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901184" y="1810512"/>
            <a:ext cx="36941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The AI brain — reads your question, understands what you mean, and writes a clear structured answer. Used twice per conversation.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901184" y="2596896"/>
            <a:ext cx="36941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A4B5E"/>
                </a:solidFill>
                <a:latin typeface="Arial"/>
                <a:ea typeface="Arial"/>
                <a:cs typeface="Arial"/>
                <a:sym typeface="Arial"/>
              </a:rPr>
              <a:t>Made by Anthropic. Fast, affordable, and optimized for structured real estate Q&amp;A.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57200" y="2926080"/>
            <a:ext cx="3931920" cy="1316736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57200" y="2926080"/>
            <a:ext cx="59436" cy="1316736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03504" y="3017520"/>
            <a:ext cx="36941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SearchAPI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03504" y="3255264"/>
            <a:ext cx="36941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The live data source — searches Google in real time and returns actual property listings with prices and images.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03504" y="4041648"/>
            <a:ext cx="36941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A4B5E"/>
                </a:solidFill>
                <a:latin typeface="Arial"/>
                <a:ea typeface="Arial"/>
                <a:cs typeface="Arial"/>
                <a:sym typeface="Arial"/>
              </a:rPr>
              <a:t>No fake data. Every listing card links to a real, current property on Lamudi or Dot Property.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754880" y="2926080"/>
            <a:ext cx="3931920" cy="1316736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754880" y="2926080"/>
            <a:ext cx="59436" cy="1316736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901184" y="3017520"/>
            <a:ext cx="36941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901184" y="3255264"/>
            <a:ext cx="36941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The glue — connects all three tools and manages the 5-step pipeline end to end.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901184" y="4041648"/>
            <a:ext cx="369417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4A4B5E"/>
                </a:solidFill>
                <a:latin typeface="Arial"/>
                <a:ea typeface="Arial"/>
                <a:cs typeface="Arial"/>
                <a:sym typeface="Arial"/>
              </a:rPr>
              <a:t>Written in VS Code. All source files are submitted alongside this presentation.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09  —  SYSTEM ARCHITECTURE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457200" y="5212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How the chatbot is built — the pipeline under the hood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57200" y="1060704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Five components, two AI calls, one web search. Each step has a single, well-defined job.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48640" y="1627632"/>
            <a:ext cx="1389888" cy="98755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48640" y="1627632"/>
            <a:ext cx="237744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48640" y="1627632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621792" y="1901952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21792" y="2176272"/>
            <a:ext cx="12435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User input + filters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2" name="Google Shape;352;p10"/>
          <p:cNvCxnSpPr/>
          <p:nvPr/>
        </p:nvCxnSpPr>
        <p:spPr>
          <a:xfrm>
            <a:off x="1956816" y="2121408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FF4B4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53" name="Google Shape;353;p10"/>
          <p:cNvSpPr/>
          <p:nvPr/>
        </p:nvSpPr>
        <p:spPr>
          <a:xfrm>
            <a:off x="2212848" y="1627632"/>
            <a:ext cx="1389888" cy="98755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2212848" y="1627632"/>
            <a:ext cx="237744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2212848" y="1627632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2286000" y="1901952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Claude Haiku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2286000" y="2176272"/>
            <a:ext cx="12435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Intent &amp; keywords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2212848" y="2670048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8080"/>
                </a:solidFill>
                <a:latin typeface="Consolas"/>
                <a:ea typeface="Consolas"/>
                <a:cs typeface="Consolas"/>
                <a:sym typeface="Consolas"/>
              </a:rPr>
              <a:t>ANTHROPIC_API_KEY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9" name="Google Shape;359;p10"/>
          <p:cNvCxnSpPr/>
          <p:nvPr/>
        </p:nvCxnSpPr>
        <p:spPr>
          <a:xfrm>
            <a:off x="3621024" y="2121408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FF4B4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0" name="Google Shape;360;p10"/>
          <p:cNvSpPr/>
          <p:nvPr/>
        </p:nvSpPr>
        <p:spPr>
          <a:xfrm>
            <a:off x="3877056" y="1627632"/>
            <a:ext cx="1389888" cy="98755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877056" y="1627632"/>
            <a:ext cx="237744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3877056" y="1627632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950208" y="1901952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SearchAPI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3950208" y="2176272"/>
            <a:ext cx="12435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Google search (no LLM)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3877056" y="2670048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8080"/>
                </a:solidFill>
                <a:latin typeface="Consolas"/>
                <a:ea typeface="Consolas"/>
                <a:cs typeface="Consolas"/>
                <a:sym typeface="Consolas"/>
              </a:rPr>
              <a:t>SEARCHAPI_KEY_1–4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0"/>
          <p:cNvCxnSpPr/>
          <p:nvPr/>
        </p:nvCxnSpPr>
        <p:spPr>
          <a:xfrm>
            <a:off x="5285232" y="2121408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FF4B4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7" name="Google Shape;367;p10"/>
          <p:cNvSpPr/>
          <p:nvPr/>
        </p:nvSpPr>
        <p:spPr>
          <a:xfrm>
            <a:off x="5541264" y="1627632"/>
            <a:ext cx="1389888" cy="98755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5541264" y="1627632"/>
            <a:ext cx="237744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5541264" y="1627632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614416" y="1901952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Claude Haiku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614416" y="2176272"/>
            <a:ext cx="12435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Match &amp; format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541264" y="2670048"/>
            <a:ext cx="13898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FF8080"/>
                </a:solidFill>
                <a:latin typeface="Consolas"/>
                <a:ea typeface="Consolas"/>
                <a:cs typeface="Consolas"/>
                <a:sym typeface="Consolas"/>
              </a:rPr>
              <a:t>ANTHROPIC_API_KEY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10"/>
          <p:cNvCxnSpPr/>
          <p:nvPr/>
        </p:nvCxnSpPr>
        <p:spPr>
          <a:xfrm>
            <a:off x="6949440" y="2121408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FF4B4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4" name="Google Shape;374;p10"/>
          <p:cNvSpPr/>
          <p:nvPr/>
        </p:nvSpPr>
        <p:spPr>
          <a:xfrm>
            <a:off x="7205472" y="1627632"/>
            <a:ext cx="1389888" cy="98755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7205472" y="1627632"/>
            <a:ext cx="237744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7205472" y="1627632"/>
            <a:ext cx="23774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7278624" y="1901952"/>
            <a:ext cx="124358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Streamlit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7278624" y="2176272"/>
            <a:ext cx="12435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Map · TMC · Cards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48640" y="3163824"/>
            <a:ext cx="8046720" cy="402336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676656" y="3236976"/>
            <a:ext cx="1234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Response types: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1965960" y="3255264"/>
            <a:ext cx="566928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1965960" y="3255264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text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2624328" y="3255264"/>
            <a:ext cx="475488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2624328" y="3255264"/>
            <a:ext cx="4754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3191256" y="3255264"/>
            <a:ext cx="1115568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3191256" y="3255264"/>
            <a:ext cx="11155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4398264" y="3255264"/>
            <a:ext cx="1755648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4398264" y="3255264"/>
            <a:ext cx="17556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true monthly cost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6245352" y="3255264"/>
            <a:ext cx="658368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245352" y="3255264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chart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6995160" y="3255264"/>
            <a:ext cx="1389888" cy="201168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6995160" y="3255264"/>
            <a:ext cx="138988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listing cards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850"/>
              <a:buFont typeface="Arial"/>
              <a:buNone/>
            </a:pPr>
            <a:r>
              <a:rPr b="0" i="1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ANTHROPIC_API_KEY → Steps 2 + 4 only   ·   SEARCHAPI_KEY_1–4 → Step 3 only   ·   Steps 1 and 5 need no external API</a:t>
            </a:r>
            <a:endParaRPr b="0" i="0" sz="8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10  —  WHAT IT KNOWS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457200" y="5212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9 categories of NCR real estate knowledge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457200" y="1060704"/>
            <a:ext cx="82296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Draws from 9 types of data to answer any question — from listing prices to the hidden cost of commuting.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457200" y="1664208"/>
            <a:ext cx="2560320" cy="93268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457200" y="1664208"/>
            <a:ext cx="457200" cy="19202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57200" y="166420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I-1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566928" y="1901952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Listings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566928" y="2139696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Properties for rent, sale, and pre-selling across all NCR cities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3291840" y="1664208"/>
            <a:ext cx="2560320" cy="93268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3291840" y="1664208"/>
            <a:ext cx="457200" cy="19202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3291840" y="166420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I-2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3401568" y="1901952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Commute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3401568" y="2139696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MRT/LRT distances and travel time to all major business districts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6126480" y="1664208"/>
            <a:ext cx="2560320" cy="93268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6126480" y="1664208"/>
            <a:ext cx="457200" cy="19202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6126480" y="1664208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I-3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6236208" y="1901952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Neighborhood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6236208" y="2139696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Schools, hospitals, malls, flood risk, and air quality by area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457200" y="2743200"/>
            <a:ext cx="2560320" cy="93268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457200" y="2743200"/>
            <a:ext cx="457200" cy="19202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457200" y="274320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I-4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566928" y="2980944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Lifestyle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566928" y="3218688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Recommendations by household type: single, family, WFH, senior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3291840" y="2743200"/>
            <a:ext cx="2560320" cy="93268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3291840" y="2743200"/>
            <a:ext cx="457200" cy="19202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3291840" y="274320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I-5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3401568" y="2980944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Ownership costs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3401568" y="3218688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Property tax, renovation estimates, rental yield, resale value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6126480" y="2743200"/>
            <a:ext cx="2560320" cy="93268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6126480" y="2743200"/>
            <a:ext cx="457200" cy="19202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6126480" y="2743200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I-6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6236208" y="2980944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Market history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6236208" y="3218688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Price trends, year-on-year changes, capital appreciation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457200" y="3822192"/>
            <a:ext cx="2560320" cy="93268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457200" y="3822192"/>
            <a:ext cx="457200" cy="19202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457200" y="3822192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I-7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566928" y="4059936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Utilities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566928" y="4297680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Electricity rates, solar eligibility, water zones, fiber coverage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3291840" y="3822192"/>
            <a:ext cx="2560320" cy="93268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3291840" y="3822192"/>
            <a:ext cx="457200" cy="19202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3291840" y="3822192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I-8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3401568" y="4059936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Hidden costs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3401568" y="4297680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Fuel, toll, parking, vehicle maintenance, commute time value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6126480" y="3822192"/>
            <a:ext cx="2560320" cy="93268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6126480" y="3822192"/>
            <a:ext cx="457200" cy="19202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6126480" y="3822192"/>
            <a:ext cx="45720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I-9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6236208" y="4059936"/>
            <a:ext cx="234086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Building specs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6236208" y="4297680"/>
            <a:ext cx="23408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Roof type, kitchen condition, finish tier, renovation status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2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11  —  WHAT IT CAN ANSWER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457200" y="5212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11 types of questions the chatbot handles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457200" y="1444752"/>
            <a:ext cx="3931920" cy="402336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566928" y="156362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Where can I rent a 2BR under ₱30k near Makati?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3657600" y="1536192"/>
            <a:ext cx="694944" cy="23774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3657600" y="1536192"/>
            <a:ext cx="694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listings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457200" y="1883664"/>
            <a:ext cx="3931920" cy="402336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566928" y="2002536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Show me condos near BGC on a map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3657600" y="1975104"/>
            <a:ext cx="694944" cy="23774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3657600" y="1975104"/>
            <a:ext cx="694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457200" y="2322576"/>
            <a:ext cx="3931920" cy="402336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566928" y="2441448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Condo in Mandaluyong vs house in Pasig — which is better?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3657600" y="2414016"/>
            <a:ext cx="694944" cy="23774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3657600" y="2414016"/>
            <a:ext cx="694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457200" y="2761488"/>
            <a:ext cx="3931920" cy="402336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566928" y="2880360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What will it really cost me to live in Antipolo?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3657600" y="2852928"/>
            <a:ext cx="694944" cy="23774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3657600" y="2852928"/>
            <a:ext cx="694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true cost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457200" y="3200400"/>
            <a:ext cx="3931920" cy="402336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566928" y="3319272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Is it better to buy or rent in Pasig right now?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3657600" y="3291840"/>
            <a:ext cx="694944" cy="23774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3657600" y="3291840"/>
            <a:ext cx="694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chart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457200" y="3639312"/>
            <a:ext cx="3931920" cy="402336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566928" y="3758184"/>
            <a:ext cx="30175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Which areas have fast fiber for a WFH setup?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3657600" y="3730752"/>
            <a:ext cx="694944" cy="237744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3657600" y="3730752"/>
            <a:ext cx="69494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advice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4755000" y="1444752"/>
            <a:ext cx="3931800" cy="4023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4864728" y="1563624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Can I install solar panels if I rent a condo?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7955400" y="1536192"/>
            <a:ext cx="694800" cy="237600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7955400" y="1536192"/>
            <a:ext cx="69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advice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4755000" y="1883664"/>
            <a:ext cx="3931800" cy="402300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4864728" y="2002536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Good place for a family of 4 near good schools?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7955400" y="1975104"/>
            <a:ext cx="694800" cy="237600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7955400" y="1975104"/>
            <a:ext cx="69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4755000" y="2322576"/>
            <a:ext cx="3931800" cy="4023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4864728" y="2441448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How have BGC condo prices changed in 3 years?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7955400" y="2414016"/>
            <a:ext cx="694800" cy="237600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7955400" y="2414016"/>
            <a:ext cx="69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chart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4755000" y="2761488"/>
            <a:ext cx="3931800" cy="402300"/>
          </a:xfrm>
          <a:prstGeom prst="rect">
            <a:avLst/>
          </a:prstGeom>
          <a:solidFill>
            <a:srgbClr val="262730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4864728" y="2880360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Buy bare and renovate, or buy move-in ready?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7955400" y="2852928"/>
            <a:ext cx="694800" cy="237600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7955400" y="2852928"/>
            <a:ext cx="69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comparison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4755000" y="3200400"/>
            <a:ext cx="3931800" cy="4023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864728" y="3319272"/>
            <a:ext cx="3017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All-in monthly cost for a ₱25k condo in Pasig?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7955400" y="3291840"/>
            <a:ext cx="694800" cy="237600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7955400" y="3291840"/>
            <a:ext cx="694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true cost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3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12  —  SIGNATURE FEATURE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457200" y="52121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The True Monthly Cost — our most important insight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/>
          <p:nvPr/>
        </p:nvSpPr>
        <p:spPr>
          <a:xfrm>
            <a:off x="457200" y="1243654"/>
            <a:ext cx="82296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This is the number that changes how people think about housing. It reveals the gap between what a property is listed at and what it actually costs to inhabit.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457200" y="1728218"/>
            <a:ext cx="1993500" cy="10791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566928" y="1801370"/>
            <a:ext cx="1773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4B5E"/>
                </a:solidFill>
                <a:latin typeface="Arial"/>
                <a:ea typeface="Arial"/>
                <a:cs typeface="Arial"/>
                <a:sym typeface="Arial"/>
              </a:rPr>
              <a:t>+ Housing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566928" y="2020826"/>
            <a:ext cx="177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Rent + condo dues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566928" y="2441450"/>
            <a:ext cx="17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₱25,000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3"/>
          <p:cNvSpPr/>
          <p:nvPr/>
        </p:nvSpPr>
        <p:spPr>
          <a:xfrm>
            <a:off x="2633472" y="1728218"/>
            <a:ext cx="1993500" cy="10791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2743200" y="1801370"/>
            <a:ext cx="1773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4B5E"/>
                </a:solidFill>
                <a:latin typeface="Arial"/>
                <a:ea typeface="Arial"/>
                <a:cs typeface="Arial"/>
                <a:sym typeface="Arial"/>
              </a:rPr>
              <a:t>+ Utilities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2743200" y="2020826"/>
            <a:ext cx="177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Electricity + water + internet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2743200" y="2441450"/>
            <a:ext cx="17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₱5,200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4809744" y="1728218"/>
            <a:ext cx="1993500" cy="10791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4919472" y="1801370"/>
            <a:ext cx="1773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4B5E"/>
                </a:solidFill>
                <a:latin typeface="Arial"/>
                <a:ea typeface="Arial"/>
                <a:cs typeface="Arial"/>
                <a:sym typeface="Arial"/>
              </a:rPr>
              <a:t>+ Transport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4919472" y="2020826"/>
            <a:ext cx="1773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Fuel + toll + parking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4919472" y="2441450"/>
            <a:ext cx="17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₱8,500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6986024" y="1728225"/>
            <a:ext cx="1700700" cy="107910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7095744" y="1801370"/>
            <a:ext cx="17739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4A4B5E"/>
                </a:solidFill>
                <a:latin typeface="Arial"/>
                <a:ea typeface="Arial"/>
                <a:cs typeface="Arial"/>
                <a:sym typeface="Arial"/>
              </a:rPr>
              <a:t>+ Time cost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7095750" y="2020825"/>
            <a:ext cx="1408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Commute hours × income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7095744" y="2441450"/>
            <a:ext cx="177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₱5,400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457200" y="2990090"/>
            <a:ext cx="8229600" cy="822900"/>
          </a:xfrm>
          <a:prstGeom prst="rect">
            <a:avLst/>
          </a:prstGeom>
          <a:solidFill>
            <a:srgbClr val="2A0D0D"/>
          </a:solidFill>
          <a:ln cap="flat" cmpd="sng" w="9525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594360" y="3081530"/>
            <a:ext cx="54864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True Monthly Cost vs advertised rent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594360" y="3355850"/>
            <a:ext cx="54864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08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FF8080"/>
                </a:solidFill>
                <a:latin typeface="Arial"/>
                <a:ea typeface="Arial"/>
                <a:cs typeface="Arial"/>
                <a:sym typeface="Arial"/>
              </a:rPr>
              <a:t>The ₱19,100 difference is what listings never mention.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6217920" y="3081530"/>
            <a:ext cx="2286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4A4B5E"/>
                </a:solidFill>
                <a:latin typeface="Arial"/>
                <a:ea typeface="Arial"/>
                <a:cs typeface="Arial"/>
                <a:sym typeface="Arial"/>
              </a:rPr>
              <a:t>₱25,000 advertised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6217920" y="3310130"/>
            <a:ext cx="22860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₱44,100 real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11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7"/>
          <p:cNvSpPr txBox="1"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13  —  RECOMMENDATIONS FOR FUTURE USE</a:t>
            </a:r>
            <a:endParaRPr/>
          </a:p>
        </p:txBody>
      </p:sp>
      <p:sp>
        <p:nvSpPr>
          <p:cNvPr id="537" name="Google Shape;537;p17"/>
          <p:cNvSpPr txBox="1"/>
          <p:nvPr/>
        </p:nvSpPr>
        <p:spPr>
          <a:xfrm>
            <a:off x="457200" y="1161392"/>
            <a:ext cx="8229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Four directions for taking this from a bootcamp project to a production tool — across scope, geography, technical depth, and user maturity.</a:t>
            </a:r>
            <a:endParaRPr/>
          </a:p>
        </p:txBody>
      </p:sp>
      <p:sp>
        <p:nvSpPr>
          <p:cNvPr id="538" name="Google Shape;538;p17"/>
          <p:cNvSpPr/>
          <p:nvPr/>
        </p:nvSpPr>
        <p:spPr>
          <a:xfrm>
            <a:off x="457200" y="1627632"/>
            <a:ext cx="3931920" cy="15727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7"/>
          <p:cNvSpPr/>
          <p:nvPr/>
        </p:nvSpPr>
        <p:spPr>
          <a:xfrm>
            <a:off x="457200" y="1627632"/>
            <a:ext cx="59436" cy="157276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7"/>
          <p:cNvSpPr txBox="1"/>
          <p:nvPr/>
        </p:nvSpPr>
        <p:spPr>
          <a:xfrm>
            <a:off x="603504" y="1719072"/>
            <a:ext cx="36941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Commercial property data</a:t>
            </a:r>
            <a:endParaRPr/>
          </a:p>
        </p:txBody>
      </p:sp>
      <p:sp>
        <p:nvSpPr>
          <p:cNvPr id="541" name="Google Shape;541;p17"/>
          <p:cNvSpPr txBox="1"/>
          <p:nvPr/>
        </p:nvSpPr>
        <p:spPr>
          <a:xfrm>
            <a:off x="603504" y="1993392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Expand beyond residential to cover office, retail, and warehouse leasing across NCR.</a:t>
            </a:r>
            <a:endParaRPr/>
          </a:p>
        </p:txBody>
      </p:sp>
      <p:sp>
        <p:nvSpPr>
          <p:cNvPr id="542" name="Google Shape;542;p17"/>
          <p:cNvSpPr/>
          <p:nvPr/>
        </p:nvSpPr>
        <p:spPr>
          <a:xfrm>
            <a:off x="603504" y="2468880"/>
            <a:ext cx="502920" cy="7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7"/>
          <p:cNvSpPr txBox="1"/>
          <p:nvPr/>
        </p:nvSpPr>
        <p:spPr>
          <a:xfrm>
            <a:off x="603504" y="2523744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/>
          </a:p>
        </p:txBody>
      </p:sp>
      <p:sp>
        <p:nvSpPr>
          <p:cNvPr id="544" name="Google Shape;544;p17"/>
          <p:cNvSpPr txBox="1"/>
          <p:nvPr/>
        </p:nvSpPr>
        <p:spPr>
          <a:xfrm>
            <a:off x="603504" y="2743200"/>
            <a:ext cx="36941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Captures the SME and startup founder segment — same TMC framework, applied to commercial cost structures.</a:t>
            </a:r>
            <a:endParaRPr/>
          </a:p>
        </p:txBody>
      </p:sp>
      <p:sp>
        <p:nvSpPr>
          <p:cNvPr id="545" name="Google Shape;545;p17"/>
          <p:cNvSpPr/>
          <p:nvPr/>
        </p:nvSpPr>
        <p:spPr>
          <a:xfrm>
            <a:off x="4754880" y="1627632"/>
            <a:ext cx="3931920" cy="15727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7"/>
          <p:cNvSpPr/>
          <p:nvPr/>
        </p:nvSpPr>
        <p:spPr>
          <a:xfrm>
            <a:off x="4754880" y="1627632"/>
            <a:ext cx="59436" cy="157276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7"/>
          <p:cNvSpPr txBox="1"/>
          <p:nvPr/>
        </p:nvSpPr>
        <p:spPr>
          <a:xfrm>
            <a:off x="4901184" y="1719072"/>
            <a:ext cx="36941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Greater Manila Area expansion</a:t>
            </a:r>
            <a:endParaRPr/>
          </a:p>
        </p:txBody>
      </p:sp>
      <p:sp>
        <p:nvSpPr>
          <p:cNvPr id="548" name="Google Shape;548;p17"/>
          <p:cNvSpPr txBox="1"/>
          <p:nvPr/>
        </p:nvSpPr>
        <p:spPr>
          <a:xfrm>
            <a:off x="4901184" y="1993392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Include Cavite, Bulacan, Laguna, and Rizal — already a major commuter belt with growing inventory.</a:t>
            </a:r>
            <a:endParaRPr/>
          </a:p>
        </p:txBody>
      </p:sp>
      <p:sp>
        <p:nvSpPr>
          <p:cNvPr id="549" name="Google Shape;549;p17"/>
          <p:cNvSpPr/>
          <p:nvPr/>
        </p:nvSpPr>
        <p:spPr>
          <a:xfrm>
            <a:off x="4901184" y="2468880"/>
            <a:ext cx="502920" cy="7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7"/>
          <p:cNvSpPr txBox="1"/>
          <p:nvPr/>
        </p:nvSpPr>
        <p:spPr>
          <a:xfrm>
            <a:off x="4901184" y="2523744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/>
          </a:p>
        </p:txBody>
      </p:sp>
      <p:sp>
        <p:nvSpPr>
          <p:cNvPr id="551" name="Google Shape;551;p17"/>
          <p:cNvSpPr txBox="1"/>
          <p:nvPr/>
        </p:nvSpPr>
        <p:spPr>
          <a:xfrm>
            <a:off x="4901184" y="2743200"/>
            <a:ext cx="36941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Architecture is geography-agnostic. Expansion is mostly a matter of search keyword scope and commute math.</a:t>
            </a:r>
            <a:endParaRPr/>
          </a:p>
        </p:txBody>
      </p:sp>
      <p:sp>
        <p:nvSpPr>
          <p:cNvPr id="552" name="Google Shape;552;p17"/>
          <p:cNvSpPr/>
          <p:nvPr/>
        </p:nvSpPr>
        <p:spPr>
          <a:xfrm>
            <a:off x="457200" y="3291840"/>
            <a:ext cx="3931920" cy="15727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7"/>
          <p:cNvSpPr/>
          <p:nvPr/>
        </p:nvSpPr>
        <p:spPr>
          <a:xfrm>
            <a:off x="457200" y="3291840"/>
            <a:ext cx="59436" cy="157276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7"/>
          <p:cNvSpPr txBox="1"/>
          <p:nvPr/>
        </p:nvSpPr>
        <p:spPr>
          <a:xfrm>
            <a:off x="603504" y="3383280"/>
            <a:ext cx="36941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Real price forecasting</a:t>
            </a:r>
            <a:endParaRPr/>
          </a:p>
        </p:txBody>
      </p:sp>
      <p:sp>
        <p:nvSpPr>
          <p:cNvPr id="555" name="Google Shape;555;p17"/>
          <p:cNvSpPr txBox="1"/>
          <p:nvPr/>
        </p:nvSpPr>
        <p:spPr>
          <a:xfrm>
            <a:off x="603504" y="365760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Train a proper time-series model on 5+ years of NCR transaction data, separate from the AI layer.</a:t>
            </a:r>
            <a:endParaRPr/>
          </a:p>
        </p:txBody>
      </p:sp>
      <p:sp>
        <p:nvSpPr>
          <p:cNvPr id="556" name="Google Shape;556;p17"/>
          <p:cNvSpPr/>
          <p:nvPr/>
        </p:nvSpPr>
        <p:spPr>
          <a:xfrm>
            <a:off x="603504" y="4133088"/>
            <a:ext cx="502920" cy="7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7"/>
          <p:cNvSpPr txBox="1"/>
          <p:nvPr/>
        </p:nvSpPr>
        <p:spPr>
          <a:xfrm>
            <a:off x="603504" y="4187952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/>
          </a:p>
        </p:txBody>
      </p:sp>
      <p:sp>
        <p:nvSpPr>
          <p:cNvPr id="558" name="Google Shape;558;p17"/>
          <p:cNvSpPr txBox="1"/>
          <p:nvPr/>
        </p:nvSpPr>
        <p:spPr>
          <a:xfrm>
            <a:off x="603504" y="4407408"/>
            <a:ext cx="36941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Currently market history relies on AI estimates. A dedicated model gives numbers users can plan around.</a:t>
            </a:r>
            <a:endParaRPr/>
          </a:p>
        </p:txBody>
      </p:sp>
      <p:sp>
        <p:nvSpPr>
          <p:cNvPr id="559" name="Google Shape;559;p17"/>
          <p:cNvSpPr/>
          <p:nvPr/>
        </p:nvSpPr>
        <p:spPr>
          <a:xfrm>
            <a:off x="4754880" y="3291840"/>
            <a:ext cx="3931920" cy="1572768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7"/>
          <p:cNvSpPr/>
          <p:nvPr/>
        </p:nvSpPr>
        <p:spPr>
          <a:xfrm>
            <a:off x="4754880" y="3291840"/>
            <a:ext cx="59436" cy="1572768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7"/>
          <p:cNvSpPr txBox="1"/>
          <p:nvPr/>
        </p:nvSpPr>
        <p:spPr>
          <a:xfrm>
            <a:off x="4901184" y="3383280"/>
            <a:ext cx="3694176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User accounts &amp; saved searches</a:t>
            </a:r>
            <a:endParaRPr/>
          </a:p>
        </p:txBody>
      </p:sp>
      <p:sp>
        <p:nvSpPr>
          <p:cNvPr id="562" name="Google Shape;562;p17"/>
          <p:cNvSpPr txBox="1"/>
          <p:nvPr/>
        </p:nvSpPr>
        <p:spPr>
          <a:xfrm>
            <a:off x="4901184" y="3657600"/>
            <a:ext cx="36941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Persistent profiles with watchlists, saved filter presets, and alerts when matching properties appear.</a:t>
            </a:r>
            <a:endParaRPr/>
          </a:p>
        </p:txBody>
      </p:sp>
      <p:sp>
        <p:nvSpPr>
          <p:cNvPr id="563" name="Google Shape;563;p17"/>
          <p:cNvSpPr/>
          <p:nvPr/>
        </p:nvSpPr>
        <p:spPr>
          <a:xfrm>
            <a:off x="4901184" y="4133088"/>
            <a:ext cx="502920" cy="7000"/>
          </a:xfrm>
          <a:prstGeom prst="rect">
            <a:avLst/>
          </a:prstGeom>
          <a:solidFill>
            <a:srgbClr val="FF4B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7"/>
          <p:cNvSpPr txBox="1"/>
          <p:nvPr/>
        </p:nvSpPr>
        <p:spPr>
          <a:xfrm>
            <a:off x="4901184" y="4187952"/>
            <a:ext cx="3694176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WHY THIS MATTERS</a:t>
            </a:r>
            <a:endParaRPr/>
          </a:p>
        </p:txBody>
      </p:sp>
      <p:sp>
        <p:nvSpPr>
          <p:cNvPr id="565" name="Google Shape;565;p17"/>
          <p:cNvSpPr txBox="1"/>
          <p:nvPr/>
        </p:nvSpPr>
        <p:spPr>
          <a:xfrm>
            <a:off x="4901184" y="4407408"/>
            <a:ext cx="3694176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Each session is currently stateless. Accounts unlock retention, returning users, and a path to monetization.</a:t>
            </a:r>
            <a:endParaRPr/>
          </a:p>
        </p:txBody>
      </p:sp>
      <p:sp>
        <p:nvSpPr>
          <p:cNvPr id="566" name="Google Shape;566;p17"/>
          <p:cNvSpPr/>
          <p:nvPr/>
        </p:nvSpPr>
        <p:spPr>
          <a:xfrm>
            <a:off x="457200" y="52121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300">
                <a:solidFill>
                  <a:srgbClr val="FAFAFA"/>
                </a:solidFill>
              </a:rPr>
              <a:t>Where this could go next</a:t>
            </a:r>
            <a:endParaRPr b="1" sz="2300">
              <a:solidFill>
                <a:srgbClr val="FAFAF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117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4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457200" y="155448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13  —  WHAT'S NEXT  +  THANK YOU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457200" y="51886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Expansion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457200" y="1298448"/>
            <a:ext cx="2560320" cy="144475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4"/>
          <p:cNvSpPr/>
          <p:nvPr/>
        </p:nvSpPr>
        <p:spPr>
          <a:xfrm>
            <a:off x="457200" y="1298448"/>
            <a:ext cx="59436" cy="144475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603504" y="1389888"/>
            <a:ext cx="2322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Add commercial listings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603504" y="1627632"/>
            <a:ext cx="2322576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Expand beyond residential to cover office space, retail, and warehouse leasing in NCR.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3291840" y="1298448"/>
            <a:ext cx="2560320" cy="144475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3291840" y="1298448"/>
            <a:ext cx="59436" cy="144475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3438144" y="1389888"/>
            <a:ext cx="2322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Expand beyond NCR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3438144" y="1627632"/>
            <a:ext cx="2322576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Include Cavite, Bulacan, and Laguna for users willing to live outside Metro Manila.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6126480" y="1298448"/>
            <a:ext cx="2560320" cy="1444752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6126480" y="1298448"/>
            <a:ext cx="59436" cy="144475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6272784" y="1389888"/>
            <a:ext cx="232257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Live price forecasting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6272784" y="1627632"/>
            <a:ext cx="2322576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Integrate historical price data for a proper time-series forecast model, not just AI estimates.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457200" y="2944368"/>
            <a:ext cx="8229600" cy="1554480"/>
          </a:xfrm>
          <a:prstGeom prst="rect">
            <a:avLst/>
          </a:prstGeom>
          <a:solidFill>
            <a:srgbClr val="1E1F26"/>
          </a:solidFill>
          <a:ln cap="flat" cmpd="sng" w="9525">
            <a:solidFill>
              <a:srgbClr val="2E2F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457200" y="2944368"/>
            <a:ext cx="8229600" cy="50292"/>
          </a:xfrm>
          <a:prstGeom prst="rect">
            <a:avLst/>
          </a:prstGeom>
          <a:solidFill>
            <a:srgbClr val="FF4B4B"/>
          </a:solidFill>
          <a:ln cap="flat" cmpd="sng" w="12700">
            <a:solidFill>
              <a:srgbClr val="FF4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457200" y="3145536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AFAFA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457200" y="3694176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3A8B4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3A8B4"/>
                </a:solidFill>
                <a:latin typeface="Arial"/>
                <a:ea typeface="Arial"/>
                <a:cs typeface="Arial"/>
                <a:sym typeface="Arial"/>
              </a:rPr>
              <a:t>NCR Real Estate Intelligence  ·  AI Startup Builder Challenge  ·  Uplift Code Camp  ·  2026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457200" y="3950208"/>
            <a:ext cx="8229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4B4B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FF4B4B"/>
                </a:solidFill>
                <a:latin typeface="Arial"/>
                <a:ea typeface="Arial"/>
                <a:cs typeface="Arial"/>
                <a:sym typeface="Arial"/>
              </a:rPr>
              <a:t>“The cheapest rent is rarely the cheapest life.”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457200" y="4709160"/>
            <a:ext cx="8229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4B5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Richard Majarucon • Robin Hombrebueno • Jordaens Esteban •  James Barcelona</a:t>
            </a:r>
            <a:endParaRPr b="0" i="0" sz="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2026-05-22T10:47:05Z</dcterms:created>
  <dc:creator>Uplift Code Camp</dc:creator>
</cp:coreProperties>
</file>